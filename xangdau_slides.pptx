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charts/chart2.xml" ContentType="application/vnd.openxmlformats-officedocument.drawingml.chart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3" d="100"/>
          <a:sy n="113" d="100"/>
        </p:scale>
        <p:origin x="5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RON95</c:v>
                </c:pt>
              </c:strCache>
            </c:strRef>
          </c:tx>
          <c:spPr>
            <a:solidFill>
              <a:srgbClr val="1E3A5F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2026*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16108</c:v>
                </c:pt>
                <c:pt idx="1">
                  <c:v>20601</c:v>
                </c:pt>
                <c:pt idx="2">
                  <c:v>26275</c:v>
                </c:pt>
                <c:pt idx="3">
                  <c:v>22098</c:v>
                </c:pt>
                <c:pt idx="4">
                  <c:v>22420</c:v>
                </c:pt>
                <c:pt idx="5">
                  <c:v>20910</c:v>
                </c:pt>
                <c:pt idx="6">
                  <c:v>27500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538-42A1-AA18-0C36B316A08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E5RON92</c:v>
                </c:pt>
              </c:strCache>
            </c:strRef>
          </c:tx>
          <c:spPr>
            <a:solidFill>
              <a:srgbClr val="2E86AB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2026*</c:v>
                </c:pt>
              </c:strCache>
            </c:strRef>
          </c:cat>
          <c:val>
            <c:numRef>
              <c:f>Sheet1!$C$2:$C$8</c:f>
              <c:numCache>
                <c:formatCode>General</c:formatCode>
                <c:ptCount val="7"/>
                <c:pt idx="0">
                  <c:v>15395</c:v>
                </c:pt>
                <c:pt idx="1">
                  <c:v>19675</c:v>
                </c:pt>
                <c:pt idx="2">
                  <c:v>25056</c:v>
                </c:pt>
                <c:pt idx="3">
                  <c:v>21088</c:v>
                </c:pt>
                <c:pt idx="4">
                  <c:v>21385</c:v>
                </c:pt>
                <c:pt idx="5">
                  <c:v>19934</c:v>
                </c:pt>
                <c:pt idx="6">
                  <c:v>26200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3538-42A1-AA18-0C36B316A08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Diesel</c:v>
                </c:pt>
              </c:strCache>
            </c:strRef>
          </c:tx>
          <c:spPr>
            <a:solidFill>
              <a:srgbClr val="A8D8EA"/>
            </a:solidFill>
            <a:effectLst/>
          </c:spPr>
          <c:invertIfNegative val="0"/>
          <c:cat>
            <c:strRef>
              <c:f>Sheet1!$A$2:$A$8</c:f>
              <c:strCache>
                <c:ptCount val="7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  <c:pt idx="6">
                  <c:v>2026*</c:v>
                </c:pt>
              </c:strCache>
            </c:strRef>
          </c:cat>
          <c:val>
            <c:numRef>
              <c:f>Sheet1!$D$2:$D$8</c:f>
              <c:numCache>
                <c:formatCode>General</c:formatCode>
                <c:ptCount val="7"/>
                <c:pt idx="0">
                  <c:v>13542</c:v>
                </c:pt>
                <c:pt idx="1">
                  <c:v>16982</c:v>
                </c:pt>
                <c:pt idx="2">
                  <c:v>23882</c:v>
                </c:pt>
                <c:pt idx="3">
                  <c:v>20890</c:v>
                </c:pt>
                <c:pt idx="4">
                  <c:v>20909</c:v>
                </c:pt>
                <c:pt idx="5">
                  <c:v>19308</c:v>
                </c:pt>
                <c:pt idx="6">
                  <c:v>33000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3538-42A1-AA18-0C36B316A08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Thực tế (RON95)</c:v>
                </c:pt>
              </c:strCache>
            </c:strRef>
          </c:tx>
          <c:spPr>
            <a:ln w="31750" cap="flat">
              <a:solidFill>
                <a:srgbClr val="1E3A5F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3A5F"/>
              </a:solidFill>
              <a:ln w="9525" cap="flat">
                <a:solidFill>
                  <a:srgbClr val="1E3A5F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01/23</c:v>
                </c:pt>
                <c:pt idx="1">
                  <c:v>06/23</c:v>
                </c:pt>
                <c:pt idx="2">
                  <c:v>12/23</c:v>
                </c:pt>
                <c:pt idx="3">
                  <c:v>06/24</c:v>
                </c:pt>
                <c:pt idx="4">
                  <c:v>12/24</c:v>
                </c:pt>
                <c:pt idx="5">
                  <c:v>03/25</c:v>
                </c:pt>
                <c:pt idx="6">
                  <c:v>09/25</c:v>
                </c:pt>
                <c:pt idx="7">
                  <c:v>12/25</c:v>
                </c:pt>
                <c:pt idx="8">
                  <c:v>02/26</c:v>
                </c:pt>
                <c:pt idx="9">
                  <c:v>03/26</c:v>
                </c:pt>
                <c:pt idx="10">
                  <c:v>04/26</c:v>
                </c:pt>
                <c:pt idx="11">
                  <c:v>05/26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20190</c:v>
                </c:pt>
                <c:pt idx="1">
                  <c:v>20890</c:v>
                </c:pt>
                <c:pt idx="2">
                  <c:v>21590</c:v>
                </c:pt>
                <c:pt idx="3">
                  <c:v>23660</c:v>
                </c:pt>
                <c:pt idx="4">
                  <c:v>21290</c:v>
                </c:pt>
                <c:pt idx="5">
                  <c:v>20460</c:v>
                </c:pt>
                <c:pt idx="6">
                  <c:v>20720</c:v>
                </c:pt>
                <c:pt idx="7">
                  <c:v>21550</c:v>
                </c:pt>
                <c:pt idx="8">
                  <c:v>21890</c:v>
                </c:pt>
                <c:pt idx="9">
                  <c:v>28000</c:v>
                </c:pt>
                <c:pt idx="10">
                  <c:v>32000</c:v>
                </c:pt>
                <c:pt idx="11">
                  <c:v>24078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C206-44C9-866E-AD723AF3DB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E0E0E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87581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91440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PHÂN TÍCH BIẾN ĐỘNG</a:t>
            </a:r>
            <a:endParaRPr lang="en-US" sz="3600" dirty="0"/>
          </a:p>
          <a:p>
            <a:pPr marL="0" indent="0" algn="ctr">
              <a:buNone/>
            </a:pPr>
            <a:r>
              <a:rPr lang="en-US" sz="3600" b="1" dirty="0">
                <a:solidFill>
                  <a:srgbClr val="FFFFFF"/>
                </a:solidFill>
              </a:rPr>
              <a:t>GIÁ XĂNG DẦU VIỆT NAM</a:t>
            </a:r>
            <a:endParaRPr lang="en-US" sz="3600" dirty="0"/>
          </a:p>
        </p:txBody>
      </p:sp>
      <p:sp>
        <p:nvSpPr>
          <p:cNvPr id="3" name="Text 1"/>
          <p:cNvSpPr/>
          <p:nvPr/>
        </p:nvSpPr>
        <p:spPr>
          <a:xfrm>
            <a:off x="457200" y="26517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i="1" dirty="0">
                <a:solidFill>
                  <a:srgbClr val="A8D8EA"/>
                </a:solidFill>
              </a:rPr>
              <a:t>Giai đoạn 2020 – 2026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200400" y="3291840"/>
            <a:ext cx="27432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3566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AAAAAA"/>
                </a:solidFill>
              </a:rPr>
              <a:t>Môn học: Khoa học Dữ liệu  |  Lớp: 58KTPM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57200" y="41148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Nguồn dữ liệu: Petrolimex / Bộ Công Thương  |  Năm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Nội Dung Báo Cáo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1097280" y="1005840"/>
            <a:ext cx="694944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A4A4A"/>
                </a:solidFill>
              </a:rPr>
              <a:t>1.  Giới thiệu đề tài &amp; câu hỏi phân tích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A4A4A"/>
                </a:solidFill>
              </a:rPr>
              <a:t>2.  Dữ liệu &amp; phương pháp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A4A4A"/>
                </a:solidFill>
              </a:rPr>
              <a:t>3.  Kết quả phân tích – 5 câu hỏi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A4A4A"/>
                </a:solidFill>
              </a:rPr>
              <a:t>4.  Nhận xét tổng hợp</a:t>
            </a:r>
            <a:endParaRPr lang="en-US" sz="1800" dirty="0"/>
          </a:p>
          <a:p>
            <a:pPr marL="0" indent="0">
              <a:lnSpc>
                <a:spcPct val="160000"/>
              </a:lnSpc>
              <a:buNone/>
            </a:pPr>
            <a:r>
              <a:rPr lang="en-US" sz="1800" dirty="0">
                <a:solidFill>
                  <a:srgbClr val="4A4A4A"/>
                </a:solidFill>
              </a:rPr>
              <a:t>5.  Đề xuất &amp; hạn chế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1. Giới Thiệu Đề Tài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Làm gì?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1887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Phân tích biến động giá xăng dầu VN giai đoạn 2020–2026 dựa trên dữ liệu thực tế từ Petrolimex và Bộ Công Thương.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Để làm gì?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2560320"/>
            <a:ext cx="393192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Hiểu xu hướng giá xăng, nhận diện yếu tố tác động, dự đoán giá tương lai để hỗ trợ quyết định tiêu dùng &amp; chính sách.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35661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E86AB"/>
                </a:solidFill>
              </a:rPr>
              <a:t>Ai làm?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57200" y="3931920"/>
            <a:ext cx="3931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Nhóm sinh viên lớp 58KTPM – Môn Khoa học Dữ liệu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663440" y="777240"/>
            <a:ext cx="4206240" cy="41148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754880" y="822960"/>
            <a:ext cx="4023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5 Câu Hỏi Phân Tích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754880" y="1325880"/>
            <a:ext cx="4023360" cy="3383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4A4A4A"/>
                </a:solidFill>
              </a:rPr>
              <a:t>1. Giá xăng biến động thế nào qua từng năm?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4A4A4A"/>
                </a:solidFill>
              </a:rPr>
              <a:t>2. Tháng nào giá tăng/giảm mạnh nhất?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4A4A4A"/>
                </a:solidFill>
              </a:rPr>
              <a:t>3. Sự kiện nào tác động lớn nhất?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4A4A4A"/>
                </a:solidFill>
              </a:rPr>
              <a:t>4. Giá cao nhất &amp; thấp nhất là bao nhiêu?</a:t>
            </a:r>
            <a:endParaRPr lang="en-US" sz="1200" dirty="0"/>
          </a:p>
          <a:p>
            <a:pPr marL="0" indent="0">
              <a:lnSpc>
                <a:spcPct val="170000"/>
              </a:lnSpc>
              <a:buNone/>
            </a:pPr>
            <a:r>
              <a:rPr lang="en-US" sz="1200" dirty="0">
                <a:solidFill>
                  <a:srgbClr val="4A4A4A"/>
                </a:solidFill>
              </a:rPr>
              <a:t>5. Xu hướng giá 2026 sẽ như thế nào?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2. Dữ Liệu &amp; Phương Pháp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011680" cy="4023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365760" y="868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Nguồn dữ liệu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20040" y="1325880"/>
            <a:ext cx="1920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Petrolimex.com.vn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Bộ Công Thương VN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Thuvienphapluat.vn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450592" y="822960"/>
            <a:ext cx="2011680" cy="4023360"/>
          </a:xfrm>
          <a:prstGeom prst="rect">
            <a:avLst/>
          </a:prstGeom>
          <a:solidFill>
            <a:srgbClr val="D6E8F0"/>
          </a:solidFill>
          <a:ln/>
        </p:spPr>
      </p:sp>
      <p:sp>
        <p:nvSpPr>
          <p:cNvPr id="8" name="Text 6"/>
          <p:cNvSpPr/>
          <p:nvPr/>
        </p:nvSpPr>
        <p:spPr>
          <a:xfrm>
            <a:off x="2542032" y="868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Dữ liệu thu thập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2496312" y="1325880"/>
            <a:ext cx="1920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49 kỳ điều chỉnh (2020–2025)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13 kỳ điều chỉnh (2026)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3 loại: RON95, E5, Diesel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626864" y="822960"/>
            <a:ext cx="2011680" cy="402336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718304" y="868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Phương pháp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4672584" y="1325880"/>
            <a:ext cx="1920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Thống kê mô tả (EDA)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Trực quan hóa (Matplotlib)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Dự đoán (Polynomial Regression)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03136" y="822960"/>
            <a:ext cx="2011680" cy="4023360"/>
          </a:xfrm>
          <a:prstGeom prst="rect">
            <a:avLst/>
          </a:prstGeom>
          <a:solidFill>
            <a:srgbClr val="D6E8F0"/>
          </a:solidFill>
          <a:ln/>
        </p:spPr>
      </p:sp>
      <p:sp>
        <p:nvSpPr>
          <p:cNvPr id="14" name="Text 12"/>
          <p:cNvSpPr/>
          <p:nvPr/>
        </p:nvSpPr>
        <p:spPr>
          <a:xfrm>
            <a:off x="6894576" y="868680"/>
            <a:ext cx="1828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Công cụ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848856" y="1325880"/>
            <a:ext cx="1920240" cy="3291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Python, Pandas, NumPy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Matplotlib, Seaborn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4A4A4A"/>
                </a:solidFill>
              </a:rPr>
              <a:t>Scikit-learn, Jupyter Notebook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Kết Quả – Câu 1 &amp; 4: Biến Động &amp; Đỉnh/Đáy Giá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4A4A4A"/>
                </a:solidFill>
              </a:rPr>
              <a:t>Biểu đồ đường cho thấy giá 3 loại xăng dầu (2020–2026) biến động mạnh theo các sự kiện kinh tế – chính trị: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80160"/>
            <a:ext cx="2011680" cy="2468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6" name="Shape 4"/>
          <p:cNvSpPr/>
          <p:nvPr/>
        </p:nvSpPr>
        <p:spPr>
          <a:xfrm>
            <a:off x="320040" y="1280160"/>
            <a:ext cx="2011680" cy="64008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7" name="Text 5"/>
          <p:cNvSpPr/>
          <p:nvPr/>
        </p:nvSpPr>
        <p:spPr>
          <a:xfrm>
            <a:off x="41148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Giá thấp nhất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1148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E86AB"/>
                </a:solidFill>
              </a:rPr>
              <a:t>13.310 đ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11480" y="2331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RON95 – 17/04/2020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(COVID-19 / Dầu âm lịch sử)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468880" y="1280160"/>
            <a:ext cx="2011680" cy="2468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Shape 9"/>
          <p:cNvSpPr/>
          <p:nvPr/>
        </p:nvSpPr>
        <p:spPr>
          <a:xfrm>
            <a:off x="2468880" y="1280160"/>
            <a:ext cx="2011680" cy="64008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2" name="Text 10"/>
          <p:cNvSpPr/>
          <p:nvPr/>
        </p:nvSpPr>
        <p:spPr>
          <a:xfrm>
            <a:off x="256032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Giá cao nhất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56032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C0392B"/>
                </a:solidFill>
              </a:rPr>
              <a:t>32.870 đ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2560320" y="2331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RON95 – 13/06/2022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(Khủng hoảng Nga–Ukraine)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4617720" y="1280160"/>
            <a:ext cx="2011680" cy="2468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6" name="Shape 14"/>
          <p:cNvSpPr/>
          <p:nvPr/>
        </p:nvSpPr>
        <p:spPr>
          <a:xfrm>
            <a:off x="4617720" y="1280160"/>
            <a:ext cx="2011680" cy="64008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7" name="Text 15"/>
          <p:cNvSpPr/>
          <p:nvPr/>
        </p:nvSpPr>
        <p:spPr>
          <a:xfrm>
            <a:off x="470916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Đỉnh 2026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470916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E67E22"/>
                </a:solidFill>
              </a:rPr>
              <a:t>~32.000 đ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4709160" y="2331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RON95 – đầu 04/2026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(Giá dầu thế giới tăng mạnh)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766560" y="1280160"/>
            <a:ext cx="2011680" cy="246888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6560" y="1280160"/>
            <a:ext cx="2011680" cy="64008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2" name="Text 20"/>
          <p:cNvSpPr/>
          <p:nvPr/>
        </p:nvSpPr>
        <p:spPr>
          <a:xfrm>
            <a:off x="6858000" y="1417320"/>
            <a:ext cx="1828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Hiện tại 05/2026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6858000" y="1783080"/>
            <a:ext cx="18288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27AE60"/>
                </a:solidFill>
              </a:rPr>
              <a:t>24.078 đ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6858000" y="2331720"/>
            <a:ext cx="18288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RON95 – 14/05/2026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4A4A4A"/>
                </a:solidFill>
              </a:rPr>
              <a:t>(Sau điều chỉnh thuế mới)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365760" y="3840480"/>
            <a:ext cx="8412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2E86AB"/>
                </a:solidFill>
              </a:rPr>
              <a:t>→ Biên độ dao động RON95 lên đến 19.560 đ/lít (~±60% so với giá trung bình). Hai đỉnh lớn: 2022 và đầu 2026.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Kết Quả – Câu 2: Giá Trung Bình Theo Năm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365760" y="777240"/>
          <a:ext cx="8412480" cy="35661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Text 2"/>
          <p:cNvSpPr/>
          <p:nvPr/>
        </p:nvSpPr>
        <p:spPr>
          <a:xfrm>
            <a:off x="365760" y="44348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88888"/>
                </a:solidFill>
              </a:rPr>
              <a:t>* 2026: dữ liệu thực tế đến 05/2026. Diesel 2026 đặc biệt cao do biến động giá dầu thế giới đầu quý 2.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Kết Quả – Câu 3: Các Sự Kiện Tác Động Lớn Nhất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41248"/>
            <a:ext cx="502920" cy="713232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88696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04/2020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68680" y="841248"/>
            <a:ext cx="7909560" cy="7132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7" name="Text 5"/>
          <p:cNvSpPr/>
          <p:nvPr/>
        </p:nvSpPr>
        <p:spPr>
          <a:xfrm>
            <a:off x="960120" y="88696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COVID-19 &amp; Giá dầu thế giới âm lịch sử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960120" y="120700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RON95 giảm từ 18.880 → 13.310 đ/lít (−29%), thấp nhất lịch sử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74320" y="1847088"/>
            <a:ext cx="502920" cy="713232"/>
          </a:xfrm>
          <a:prstGeom prst="rect">
            <a:avLst/>
          </a:prstGeom>
          <a:solidFill>
            <a:srgbClr val="C0392B"/>
          </a:solidFill>
          <a:ln/>
        </p:spPr>
      </p:sp>
      <p:sp>
        <p:nvSpPr>
          <p:cNvPr id="10" name="Text 8"/>
          <p:cNvSpPr/>
          <p:nvPr/>
        </p:nvSpPr>
        <p:spPr>
          <a:xfrm>
            <a:off x="274320" y="189280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02–06/2022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868680" y="1847088"/>
            <a:ext cx="7909560" cy="7132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2" name="Text 10"/>
          <p:cNvSpPr/>
          <p:nvPr/>
        </p:nvSpPr>
        <p:spPr>
          <a:xfrm>
            <a:off x="960120" y="189280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Xung đột Nga – Ukraine bùng nổ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960120" y="221284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RON95 tăng từ 24.570 → 32.870 đ/lít (+34%), lập kỷ lục lịch sử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74320" y="2852928"/>
            <a:ext cx="502920" cy="713232"/>
          </a:xfrm>
          <a:prstGeom prst="rect">
            <a:avLst/>
          </a:prstGeom>
          <a:solidFill>
            <a:srgbClr val="E67E22"/>
          </a:solidFill>
          <a:ln/>
        </p:spPr>
      </p:sp>
      <p:sp>
        <p:nvSpPr>
          <p:cNvPr id="15" name="Text 13"/>
          <p:cNvSpPr/>
          <p:nvPr/>
        </p:nvSpPr>
        <p:spPr>
          <a:xfrm>
            <a:off x="274320" y="289864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Q1–Q2/2026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868680" y="2852928"/>
            <a:ext cx="7909560" cy="7132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7" name="Text 15"/>
          <p:cNvSpPr/>
          <p:nvPr/>
        </p:nvSpPr>
        <p:spPr>
          <a:xfrm>
            <a:off x="960120" y="289864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Giá dầu thế giới tăng mạnh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960120" y="321868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RON95 đạt đỉnh ~32.000 đ, Dầu Diesel vượt 43.000 đ/lít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274320" y="3858768"/>
            <a:ext cx="502920" cy="713232"/>
          </a:xfrm>
          <a:prstGeom prst="rect">
            <a:avLst/>
          </a:prstGeom>
          <a:solidFill>
            <a:srgbClr val="27AE60"/>
          </a:solidFill>
          <a:ln/>
        </p:spPr>
      </p:sp>
      <p:sp>
        <p:nvSpPr>
          <p:cNvPr id="20" name="Text 18"/>
          <p:cNvSpPr/>
          <p:nvPr/>
        </p:nvSpPr>
        <p:spPr>
          <a:xfrm>
            <a:off x="274320" y="3904488"/>
            <a:ext cx="50292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</a:rPr>
              <a:t>16/04/2026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868680" y="3858768"/>
            <a:ext cx="7909560" cy="713232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22" name="Text 20"/>
          <p:cNvSpPr/>
          <p:nvPr/>
        </p:nvSpPr>
        <p:spPr>
          <a:xfrm>
            <a:off x="960120" y="3904488"/>
            <a:ext cx="7680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3A5F"/>
                </a:solidFill>
              </a:rPr>
              <a:t>Nghị quyết 19/2026/QH16 về giảm thuế xăng dầu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960120" y="4224528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4A4A4A"/>
                </a:solidFill>
              </a:rPr>
              <a:t>RON95 giảm từ 32.000 → 23.540 đ/lít (−26%) chỉ trong vài ngày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3. Kết Quả – Câu 5: Dự Đoán Xu Hướng Giá RON95 (2026)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777240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4A4A4A"/>
                </a:solidFill>
              </a:rPr>
              <a:t>Mô hình: Polynomial Regression bậc 2  |  Dữ liệu huấn luyện: 2023–2026</a:t>
            </a:r>
            <a:endParaRPr lang="en-US" sz="12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365760" y="1143000"/>
          <a:ext cx="841248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Text 3"/>
          <p:cNvSpPr/>
          <p:nvPr/>
        </p:nvSpPr>
        <p:spPr>
          <a:xfrm>
            <a:off x="365760" y="3977640"/>
            <a:ext cx="841248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E3A5F"/>
                </a:solidFill>
              </a:rPr>
              <a:t>Nhận xét: </a:t>
            </a:r>
            <a:r>
              <a:rPr lang="en-US" sz="1200" dirty="0">
                <a:solidFill>
                  <a:srgbClr val="4A4A4A"/>
                </a:solidFill>
              </a:rPr>
              <a:t>Sau đỉnh 04/2026 (~32.000 đ), giá đang giảm mạnh nhờ chính sách thuế mới. Dự đoán RON95 ổn định quanh 22.000–25.000 đ/lít trong nửa cuối 2026, với điều kiện giá dầu thế giới không có biến động lớn.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4. Nhận Xét Tổng Hợp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1600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5" name="Text 3"/>
          <p:cNvSpPr/>
          <p:nvPr/>
        </p:nvSpPr>
        <p:spPr>
          <a:xfrm>
            <a:off x="41148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📊  Biên độ biến động lớn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325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RON95 dao động từ 13.310 đ đến 32.870 đ trong 2020–2026, biên độ gần 20.000 đ/lít (~±60%).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663440" y="822960"/>
            <a:ext cx="4114800" cy="1600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8" name="Text 6"/>
          <p:cNvSpPr/>
          <p:nvPr/>
        </p:nvSpPr>
        <p:spPr>
          <a:xfrm>
            <a:off x="4800600" y="91440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🌍  Phụ thuộc giá dầu thế giới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00600" y="132588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Cả hai đỉnh giá lớn (2022, 2026) đều gắn với biến động địa chính trị toàn cầu khó dự đoán.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2606040"/>
            <a:ext cx="4114800" cy="1600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1" name="Text 9"/>
          <p:cNvSpPr/>
          <p:nvPr/>
        </p:nvSpPr>
        <p:spPr>
          <a:xfrm>
            <a:off x="411480" y="2697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📉  Chính sách thuế có hiệu quả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41148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Nghị quyết 19/2026/QH16 giúp giảm giá nhanh (RON95 giảm 26% trong vài ngày tháng 4/2026).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4663440" y="2606040"/>
            <a:ext cx="4114800" cy="1600200"/>
          </a:xfrm>
          <a:prstGeom prst="rect">
            <a:avLst/>
          </a:prstGeom>
          <a:solidFill>
            <a:srgbClr val="F4F6F8"/>
          </a:solidFill>
          <a:ln/>
        </p:spPr>
      </p:sp>
      <p:sp>
        <p:nvSpPr>
          <p:cNvPr id="14" name="Text 12"/>
          <p:cNvSpPr/>
          <p:nvPr/>
        </p:nvSpPr>
        <p:spPr>
          <a:xfrm>
            <a:off x="4800600" y="269748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E3A5F"/>
                </a:solidFill>
              </a:rPr>
              <a:t>📅  Chu kỳ điều chỉnh dày đặc hơn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4800600" y="3108960"/>
            <a:ext cx="384048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4A4A4A"/>
                </a:solidFill>
              </a:rPr>
              <a:t>Năm 2026 điều chỉnh theo tuần thay vì 10 ngày, phản ánh biến động thị trường ngày càng mạnh.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3" name="Text 1"/>
          <p:cNvSpPr/>
          <p:nvPr/>
        </p:nvSpPr>
        <p:spPr>
          <a:xfrm>
            <a:off x="274320" y="0"/>
            <a:ext cx="859536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5. Đề Xuất &amp; Hạn Chế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Đề xuất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393192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Nhà nước: Duy trì Quỹ bình ổn giá để giảm sốc khi giá dầu thế giới tăng đột biến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Người dân: Theo dõi chu kỳ điều chỉnh hàng tuần để lên kế hoạch chi tiêu hợp lý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Doanh nghiệp: Xây dựng kịch bản kinh doanh theo mức giá 20K / 25K / 30K đ/lít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Nghiên cứu tiếp: Tích hợp giá dầu Brent để tăng độ chính xác dự đoán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4572000" y="777240"/>
            <a:ext cx="4297680" cy="4206240"/>
          </a:xfrm>
          <a:prstGeom prst="rect">
            <a:avLst/>
          </a:prstGeom>
          <a:solidFill>
            <a:srgbClr val="D6E8F0"/>
          </a:solidFill>
          <a:ln/>
        </p:spPr>
      </p:sp>
      <p:sp>
        <p:nvSpPr>
          <p:cNvPr id="7" name="Text 5"/>
          <p:cNvSpPr/>
          <p:nvPr/>
        </p:nvSpPr>
        <p:spPr>
          <a:xfrm>
            <a:off x="4709160" y="82296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E3A5F"/>
                </a:solidFill>
              </a:rPr>
              <a:t>Hạn chế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709160" y="1234440"/>
            <a:ext cx="4023360" cy="3474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Dữ liệu 2026 chỉ đến 05/2026, chưa đủ cả năm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Chưa tích hợp dữ liệu giá dầu Brent thế giới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Mô hình Polynomial Regression chưa xử lý được biến động địa chính trị đột biến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4A4A4A"/>
                </a:solidFill>
              </a:rPr>
              <a:t>Chưa phân tích tác động lan toả đến các ngành kinh tế khác (vận tải, nông nghiệp...)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E3A5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188720"/>
            <a:ext cx="8229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CẢM ƠN THẦY/CÔ</a:t>
            </a:r>
            <a:endParaRPr lang="en-US" sz="3200" dirty="0"/>
          </a:p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</a:rPr>
              <a:t>VÀ CÁC BẠN ĐÃ LẮNG NGHE!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200400" y="2926080"/>
            <a:ext cx="2743200" cy="36576"/>
          </a:xfrm>
          <a:prstGeom prst="rect">
            <a:avLst/>
          </a:prstGeom>
          <a:solidFill>
            <a:srgbClr val="2E86AB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32004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AAAAA"/>
                </a:solidFill>
              </a:rPr>
              <a:t>GitHub: xangdau-analysis  |  Dữ liệu: Petrolimex.com.vn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457200" y="37490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8888"/>
                </a:solidFill>
              </a:rPr>
              <a:t>Môn: Khoa học Dữ liệu  –  Lớp 58KTPM  –  2026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987</Words>
  <Application>Microsoft Office PowerPoint</Application>
  <PresentationFormat>On-screen Show (16:9)</PresentationFormat>
  <Paragraphs>113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3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Phân Tích Giá Xăng Dầu VN 2020-2026</dc:title>
  <dc:subject>PptxGenJS Presentation</dc:subject>
  <dc:creator>PptxGenJS</dc:creator>
  <cp:lastModifiedBy>DELL</cp:lastModifiedBy>
  <cp:revision>1</cp:revision>
  <dcterms:created xsi:type="dcterms:W3CDTF">2026-05-21T01:53:03Z</dcterms:created>
  <dcterms:modified xsi:type="dcterms:W3CDTF">2026-05-21T01:55:47Z</dcterms:modified>
</cp:coreProperties>
</file>